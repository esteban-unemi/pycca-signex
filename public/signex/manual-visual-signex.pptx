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83f4cd33464d69" /><Relationship Type="http://schemas.openxmlformats.org/officeDocument/2006/relationships/extended-properties" Target="/docProps/app.xml" Id="R42748d3b94a24433" /><Relationship Type="http://schemas.openxmlformats.org/officeDocument/2006/relationships/officeDocument" Target="/ppt/presentation.xml" Id="R7c5ab9fd509546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632204888f4892"/>
  </p:sldMasterIdLst>
  <p:notesMasterIdLst>
    <p:notesMasterId xmlns:r="http://schemas.openxmlformats.org/officeDocument/2006/relationships" r:id="R6613cb71c5334e0b"/>
  </p:notesMasterIdLst>
  <p:sldIdLst>
    <p:sldId xmlns:r="http://schemas.openxmlformats.org/officeDocument/2006/relationships" id="256" r:id="Racee963490b24c4e"/>
    <p:sldId xmlns:r="http://schemas.openxmlformats.org/officeDocument/2006/relationships" id="257" r:id="Rf76dd220de3c409c"/>
    <p:sldId xmlns:r="http://schemas.openxmlformats.org/officeDocument/2006/relationships" id="258" r:id="Rfa5da0a2cdf44dd1"/>
    <p:sldId xmlns:r="http://schemas.openxmlformats.org/officeDocument/2006/relationships" id="259" r:id="Re60a4c70d6234ec1"/>
    <p:sldId xmlns:r="http://schemas.openxmlformats.org/officeDocument/2006/relationships" id="260" r:id="Ra336bb8926054965"/>
    <p:sldId xmlns:r="http://schemas.openxmlformats.org/officeDocument/2006/relationships" id="261" r:id="R899b01e3e36248a5"/>
    <p:sldId xmlns:r="http://schemas.openxmlformats.org/officeDocument/2006/relationships" id="262" r:id="R0753e2912a764b69"/>
    <p:sldId xmlns:r="http://schemas.openxmlformats.org/officeDocument/2006/relationships" id="263" r:id="Rc4f1494042d74ef7"/>
    <p:sldId xmlns:r="http://schemas.openxmlformats.org/officeDocument/2006/relationships" id="264" r:id="R971bef74974045e8"/>
    <p:sldId xmlns:r="http://schemas.openxmlformats.org/officeDocument/2006/relationships" id="265" r:id="R0f90b735031f4b12"/>
    <p:sldId xmlns:r="http://schemas.openxmlformats.org/officeDocument/2006/relationships" id="266" r:id="R67036ef353864aa7"/>
    <p:sldId xmlns:r="http://schemas.openxmlformats.org/officeDocument/2006/relationships" id="267" r:id="R146eade3c18346a3"/>
    <p:sldId xmlns:r="http://schemas.openxmlformats.org/officeDocument/2006/relationships" id="268" r:id="R932b9934f2394623"/>
    <p:sldId xmlns:r="http://schemas.openxmlformats.org/officeDocument/2006/relationships" id="269" r:id="R8f78368c473d48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e3b0bbf2304daf" /><Relationship Type="http://schemas.openxmlformats.org/officeDocument/2006/relationships/slideMaster" Target="/ppt/slideMasters/slideMaster1.xml" Id="R68632204888f4892" /><Relationship Type="http://schemas.openxmlformats.org/officeDocument/2006/relationships/notesMaster" Target="/ppt/notesMasters/notesMaster1.xml" Id="R6613cb71c5334e0b" /><Relationship Type="http://schemas.openxmlformats.org/officeDocument/2006/relationships/presProps" Target="/ppt/presProps.xml" Id="R5f990462f2a14338" /><Relationship Type="http://schemas.openxmlformats.org/officeDocument/2006/relationships/tableStyles" Target="/ppt/tableStyles.xml" Id="Rfac6c2be38ac4c0f" /><Relationship Type="http://schemas.openxmlformats.org/officeDocument/2006/relationships/slide" Target="/ppt/slides/slide1.xml" Id="Racee963490b24c4e" /><Relationship Type="http://schemas.openxmlformats.org/officeDocument/2006/relationships/slide" Target="/ppt/slides/slide2.xml" Id="Rf76dd220de3c409c" /><Relationship Type="http://schemas.openxmlformats.org/officeDocument/2006/relationships/slide" Target="/ppt/slides/slide3.xml" Id="Rfa5da0a2cdf44dd1" /><Relationship Type="http://schemas.openxmlformats.org/officeDocument/2006/relationships/slide" Target="/ppt/slides/slide4.xml" Id="Re60a4c70d6234ec1" /><Relationship Type="http://schemas.openxmlformats.org/officeDocument/2006/relationships/slide" Target="/ppt/slides/slide5.xml" Id="Ra336bb8926054965" /><Relationship Type="http://schemas.openxmlformats.org/officeDocument/2006/relationships/slide" Target="/ppt/slides/slide6.xml" Id="R899b01e3e36248a5" /><Relationship Type="http://schemas.openxmlformats.org/officeDocument/2006/relationships/slide" Target="/ppt/slides/slide7.xml" Id="R0753e2912a764b69" /><Relationship Type="http://schemas.openxmlformats.org/officeDocument/2006/relationships/slide" Target="/ppt/slides/slide8.xml" Id="Rc4f1494042d74ef7" /><Relationship Type="http://schemas.openxmlformats.org/officeDocument/2006/relationships/slide" Target="/ppt/slides/slide9.xml" Id="R971bef74974045e8" /><Relationship Type="http://schemas.openxmlformats.org/officeDocument/2006/relationships/slide" Target="/ppt/slides/slide10.xml" Id="R0f90b735031f4b12" /><Relationship Type="http://schemas.openxmlformats.org/officeDocument/2006/relationships/slide" Target="/ppt/slides/slide11.xml" Id="R67036ef353864aa7" /><Relationship Type="http://schemas.openxmlformats.org/officeDocument/2006/relationships/slide" Target="/ppt/slides/slide12.xml" Id="R146eade3c18346a3" /><Relationship Type="http://schemas.openxmlformats.org/officeDocument/2006/relationships/slide" Target="/ppt/slides/slide13.xml" Id="R932b9934f2394623" /><Relationship Type="http://schemas.openxmlformats.org/officeDocument/2006/relationships/slide" Target="/ppt/slides/slide14.xml" Id="R8f78368c473d48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a3ac5c8090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5e21e8469d4f0d" /><Relationship Type="http://schemas.openxmlformats.org/officeDocument/2006/relationships/notesMaster" Target="/ppt/notesMasters/notesMaster1.xml" Id="R3d20eb63f42e49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75998aad04e20" /><Relationship Type="http://schemas.openxmlformats.org/officeDocument/2006/relationships/notesMaster" Target="/ppt/notesMasters/notesMaster1.xml" Id="R42360199fa0e49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120b06692f4a31" /><Relationship Type="http://schemas.openxmlformats.org/officeDocument/2006/relationships/notesMaster" Target="/ppt/notesMasters/notesMaster1.xml" Id="Rcd61b1096a4945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434704ed0471d" /><Relationship Type="http://schemas.openxmlformats.org/officeDocument/2006/relationships/notesMaster" Target="/ppt/notesMasters/notesMaster1.xml" Id="Rb2ae943d150047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7985eb6354df0" /><Relationship Type="http://schemas.openxmlformats.org/officeDocument/2006/relationships/notesMaster" Target="/ppt/notesMasters/notesMaster1.xml" Id="Rb91f338a07604c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20790cc6e04631" /><Relationship Type="http://schemas.openxmlformats.org/officeDocument/2006/relationships/notesMaster" Target="/ppt/notesMasters/notesMaster1.xml" Id="R29626b41c8df42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9cc994cd9547d6" /><Relationship Type="http://schemas.openxmlformats.org/officeDocument/2006/relationships/notesMaster" Target="/ppt/notesMasters/notesMaster1.xml" Id="Rff8803f2bb994b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5a7790c11d46bc" /><Relationship Type="http://schemas.openxmlformats.org/officeDocument/2006/relationships/notesMaster" Target="/ppt/notesMasters/notesMaster1.xml" Id="Rf758e5599ce8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c207fb456349a9" /><Relationship Type="http://schemas.openxmlformats.org/officeDocument/2006/relationships/notesMaster" Target="/ppt/notesMasters/notesMaster1.xml" Id="R19dc87429cda447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c27f5686314a31" /><Relationship Type="http://schemas.openxmlformats.org/officeDocument/2006/relationships/notesMaster" Target="/ppt/notesMasters/notesMaster1.xml" Id="Re474c8cfebfb44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0491d5f5fe419c" /><Relationship Type="http://schemas.openxmlformats.org/officeDocument/2006/relationships/notesMaster" Target="/ppt/notesMasters/notesMaster1.xml" Id="Ra938a568ae6f48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376d13699f4a4e" /><Relationship Type="http://schemas.openxmlformats.org/officeDocument/2006/relationships/notesMaster" Target="/ppt/notesMasters/notesMaster1.xml" Id="R377b4063eb9d42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75c687659b4f30" /><Relationship Type="http://schemas.openxmlformats.org/officeDocument/2006/relationships/notesMaster" Target="/ppt/notesMasters/notesMaster1.xml" Id="R3901923e5b7341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89a7812f3f4ff0" /><Relationship Type="http://schemas.openxmlformats.org/officeDocument/2006/relationships/notesMaster" Target="/ppt/notesMasters/notesMaster1.xml" Id="R4e045f39e41a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estratégica: https://docs.google.com/document/d/1RcRLi7d7v5YY3HfFqu744ZhNQicGyUcAJTj_P063pPk/edit. Propuesta académica. Este archivo es una base editable pendiente de recursos visuales y revisión de AdoptaME. Los archivos gráficos existentes aún requieren comprobación. Cuestionario nuevo pendiente de aplicación; estudio previo de 49 registros. No extrapolar 19 registros del segmento a toda la Generación Z.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d7c96162547e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21720ca9349d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5cdd43e604a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65ea8bbb24d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7e2c9a18749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76dbee7643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CAE98D-4D8D-435D-8AFC-05B79E969C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9E3477D-917A-469D-A197-04FACA32C5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FDD878-1E59-4788-AA45-03E1D1D10E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E20FFE-2400-4F8F-913D-E75D6C2E9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153B3B-EFA3-476A-8FCD-E78E771DDB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07EAC56-BAF9-4161-8BB9-EB8603413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C8E257-A1F4-4FC6-AC48-FDCDEF6F45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6D7FDC9-0FCE-4C77-B331-948172CA66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C85B5-8B7A-418F-8C3D-6DA2A1C394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6215CA-7FB6-490F-B47E-394B511F50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9d57e4de8a4998" /><Relationship Type="http://schemas.openxmlformats.org/officeDocument/2006/relationships/slideLayout" Target="/ppt/slideLayouts/slideLayout1.xml" Id="R6d355eb41da94c48" /><Relationship Type="http://schemas.openxmlformats.org/officeDocument/2006/relationships/slideLayout" Target="/ppt/slideLayouts/slideLayout2.xml" Id="R669254a2cda6445a" /><Relationship Type="http://schemas.openxmlformats.org/officeDocument/2006/relationships/slideLayout" Target="/ppt/slideLayouts/slideLayout3.xml" Id="Rcfa58d1c7319415d" /><Relationship Type="http://schemas.openxmlformats.org/officeDocument/2006/relationships/slideLayout" Target="/ppt/slideLayouts/slideLayout4.xml" Id="R040fa9baa6644012" /><Relationship Type="http://schemas.openxmlformats.org/officeDocument/2006/relationships/slideLayout" Target="/ppt/slideLayouts/slideLayout5.xml" Id="R81c4ebd5c74549b7" /><Relationship Type="http://schemas.openxmlformats.org/officeDocument/2006/relationships/slideLayout" Target="/ppt/slideLayouts/slideLayout6.xml" Id="R8fdf055455bc44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355eb41da94c48"/>
    <p:sldLayoutId xmlns:r="http://schemas.openxmlformats.org/officeDocument/2006/relationships" id="2147483650" r:id="R669254a2cda6445a"/>
    <p:sldLayoutId xmlns:r="http://schemas.openxmlformats.org/officeDocument/2006/relationships" id="2147483651" r:id="Rcfa58d1c7319415d"/>
    <p:sldLayoutId xmlns:r="http://schemas.openxmlformats.org/officeDocument/2006/relationships" id="2147483652" r:id="R040fa9baa6644012"/>
    <p:sldLayoutId xmlns:r="http://schemas.openxmlformats.org/officeDocument/2006/relationships" id="2147483653" r:id="R81c4ebd5c74549b7"/>
    <p:sldLayoutId xmlns:r="http://schemas.openxmlformats.org/officeDocument/2006/relationships" id="2147483654" r:id="R8fdf055455bc44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d1a7a2f934e78" /><Relationship Type="http://schemas.openxmlformats.org/officeDocument/2006/relationships/image" Target="/ppt/media/image.png" Id="Rf62b1262011c4882" /><Relationship Type="http://schemas.openxmlformats.org/officeDocument/2006/relationships/notesSlide" Target="/ppt/notesSlides/notesSlide1.xml" Id="R88f8f40b491a47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9f52e99a4d4236" /><Relationship Type="http://schemas.openxmlformats.org/officeDocument/2006/relationships/notesSlide" Target="/ppt/notesSlides/notesSlide2.xml" Id="R284a5aed6189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6463ce8cb476c" /><Relationship Type="http://schemas.openxmlformats.org/officeDocument/2006/relationships/notesSlide" Target="/ppt/notesSlides/notesSlide3.xml" Id="R7e106b4e274a4f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8d5be45e849f4" /><Relationship Type="http://schemas.openxmlformats.org/officeDocument/2006/relationships/notesSlide" Target="/ppt/notesSlides/notesSlide4.xml" Id="Rce3c2116c0bf47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57e637f22746b3" /><Relationship Type="http://schemas.openxmlformats.org/officeDocument/2006/relationships/image" Target="/ppt/media/image2.png" Id="R4d2acf8e39cc406e" /><Relationship Type="http://schemas.openxmlformats.org/officeDocument/2006/relationships/notesSlide" Target="/ppt/notesSlides/notesSlide5.xml" Id="Rd0b33ab75ca64f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280f3fabd44b4" /><Relationship Type="http://schemas.openxmlformats.org/officeDocument/2006/relationships/notesSlide" Target="/ppt/notesSlides/notesSlide6.xml" Id="Ref13da8fcec54d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ecded021d43d8" /><Relationship Type="http://schemas.openxmlformats.org/officeDocument/2006/relationships/notesSlide" Target="/ppt/notesSlides/notesSlide7.xml" Id="R494b9917fea0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ebea4db96a4658" /><Relationship Type="http://schemas.openxmlformats.org/officeDocument/2006/relationships/image" Target="/ppt/media/image3.png" Id="Rc747a59148294e43" /><Relationship Type="http://schemas.openxmlformats.org/officeDocument/2006/relationships/notesSlide" Target="/ppt/notesSlides/notesSlide8.xml" Id="Rcab37ff6f9a54f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3c8d4b96c5476b" /><Relationship Type="http://schemas.openxmlformats.org/officeDocument/2006/relationships/notesSlide" Target="/ppt/notesSlides/notesSlide9.xml" Id="Rf97aa0a2cfbb42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a913e9399f41b9" /><Relationship Type="http://schemas.openxmlformats.org/officeDocument/2006/relationships/notesSlide" Target="/ppt/notesSlides/notesSlide10.xml" Id="R34e1f04496844d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b0ce24e11b42cf" /><Relationship Type="http://schemas.openxmlformats.org/officeDocument/2006/relationships/notesSlide" Target="/ppt/notesSlides/notesSlide11.xml" Id="R4e412c81f67045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f8a34f7e34fd0" /><Relationship Type="http://schemas.openxmlformats.org/officeDocument/2006/relationships/notesSlide" Target="/ppt/notesSlides/notesSlide12.xml" Id="R52dcde15568540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c148956f02460c" /><Relationship Type="http://schemas.openxmlformats.org/officeDocument/2006/relationships/notesSlide" Target="/ppt/notesSlides/notesSlide13.xml" Id="Rc517c6ba24144d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90542ada09470f" /><Relationship Type="http://schemas.openxmlformats.org/officeDocument/2006/relationships/notesSlide" Target="/ppt/notesSlides/notesSlide14.xml" Id="Rd4c7834cacd443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8E1D1-1526-4F83-8F61-27D4AA9F3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b1262011c488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4D00B-61B4-4813-A860-BD3BF50B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857250"/>
            <a:ext cx="4000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63A32"/>
                </a:solidFill>
              </a:defRPr>
            </a:pPr>
            <a:r>
              <a:rPr sz="3450" b="1">
                <a:solidFill>
                  <a:srgbClr val="263A32"/>
                </a:solidFill>
              </a:rPr>
              <a:t>Manual de</a:t>
            </a:r>
          </a:p>
          <a:p xmlns:a="http://schemas.openxmlformats.org/drawingml/2006/main">
            <a:pPr>
              <a:defRPr sz="3450" b="1">
                <a:solidFill>
                  <a:srgbClr val="263A32"/>
                </a:solidFill>
              </a:defRPr>
            </a:pPr>
            <a:r>
              <a:rPr sz="3450" b="1">
                <a:solidFill>
                  <a:srgbClr val="263A32"/>
                </a:solidFill>
              </a:rPr>
              <a:t>identidad de</a:t>
            </a:r>
          </a:p>
          <a:p xmlns:a="http://schemas.openxmlformats.org/drawingml/2006/main">
            <a:pPr>
              <a:defRPr sz="3450" b="1">
                <a:solidFill>
                  <a:srgbClr val="263A32"/>
                </a:solidFill>
              </a:defRPr>
            </a:pPr>
            <a:r>
              <a:rPr sz="3450" b="1">
                <a:solidFill>
                  <a:srgbClr val="263A32"/>
                </a:solidFill>
              </a:rPr>
              <a:t>campaña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37513-860F-4E3C-878C-3589427D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81375"/>
            <a:ext cx="3762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63A32"/>
                </a:solidFill>
              </a:defRPr>
            </a:pPr>
            <a:r>
              <a:rPr sz="1950" b="0">
                <a:solidFill>
                  <a:srgbClr val="263A32"/>
                </a:solidFill>
              </a:rPr>
              <a:t>PYCCA Bebé</a:t>
            </a:r>
          </a:p>
          <a:p xmlns:a="http://schemas.openxmlformats.org/drawingml/2006/main">
            <a:pPr>
              <a:defRPr sz="1950" b="0">
                <a:solidFill>
                  <a:srgbClr val="263A32"/>
                </a:solidFill>
              </a:defRPr>
            </a:pPr>
            <a:r>
              <a:rPr sz="1950" b="0">
                <a:solidFill>
                  <a:srgbClr val="263A32"/>
                </a:solidFill>
              </a:rPr>
              <a:t>Elige con confianza</a:t>
            </a:r>
          </a:p>
          <a:p xmlns:a="http://schemas.openxmlformats.org/drawingml/2006/main">
            <a:pPr>
              <a:defRPr sz="1950" b="0">
                <a:solidFill>
                  <a:srgbClr val="263A32"/>
                </a:solidFill>
              </a:defRPr>
            </a:pPr>
            <a:r>
              <a:rPr sz="1950" b="0">
                <a:solidFill>
                  <a:srgbClr val="263A32"/>
                </a:solidFill>
              </a:rPr>
              <a:t>Propuesta académica de SIGNEX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5D82EF-8380-46E6-A92F-D64C719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05375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63A32"/>
                </a:solidFill>
              </a:defRPr>
            </a:pPr>
            <a:r>
              <a:rPr sz="1125" b="0">
                <a:solidFill>
                  <a:srgbClr val="263A32"/>
                </a:solidFill>
              </a:rPr>
              <a:t>Ambientación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402799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6D40-FD0E-4421-B660-1959330D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Propósito y alcance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B29ED-2511-46B9-8CF7-F0FC5A6D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Este manual organiza la identidad visual de la campaña.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identidad comercial de PYCCA conserva sus recursos originales.</a:t>
            </a:r>
          </a:p>
        </p:txBody>
      </p:sp>
    </p:spTree>
    <p:extLst>
      <p:ext uri="{BB962C8B-B14F-4D97-AF65-F5344CB8AC3E}">
        <p14:creationId xmlns:p14="http://schemas.microsoft.com/office/powerpoint/2010/main" val="4144917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868C5-A886-4F1B-A826-1D54829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Concepto y mensaje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F7023-2A63-41A2-95DC-9EA7C551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Concepto: Elige con confianza.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Claim: Tu elección, su tranquilidad.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 comunicación ayuda a conocer el producto antes de elegir.</a:t>
            </a:r>
          </a:p>
        </p:txBody>
      </p:sp>
    </p:spTree>
    <p:extLst>
      <p:ext uri="{BB962C8B-B14F-4D97-AF65-F5344CB8AC3E}">
        <p14:creationId xmlns:p14="http://schemas.microsoft.com/office/powerpoint/2010/main" val="1707204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F1E90-A752-40B1-95F1-11FA985D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Público y tono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8724D-FAAC-411B-B43E-2DA1C383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Adultos jóvenes de 27 a 29 años.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Un tono cercano, adulto y claro.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Información concreta, sin promesas que el producto no pueda acreditar.</a:t>
            </a:r>
          </a:p>
        </p:txBody>
      </p:sp>
    </p:spTree>
    <p:extLst>
      <p:ext uri="{BB962C8B-B14F-4D97-AF65-F5344CB8AC3E}">
        <p14:creationId xmlns:p14="http://schemas.microsoft.com/office/powerpoint/2010/main" val="5858083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3C34C-D1B1-4935-BC55-373F5DDF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Identidad de PYCCA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F082E-3489-4CB8-A35C-B007B4C75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acf8e39cc406e"/>
          <a:stretch xmlns:a="http://schemas.openxmlformats.org/drawingml/2006/main"/>
        </p:blipFill>
        <p:spPr>
          <a:xfrm xmlns:a="http://schemas.openxmlformats.org/drawingml/2006/main">
            <a:off x="685800" y="2080546"/>
            <a:ext cx="5524500" cy="183965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8098D-C06A-41A3-AFE3-8D39C088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431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63A32"/>
                </a:solidFill>
              </a:defRPr>
            </a:pPr>
            <a:r>
              <a:rPr sz="2250" b="0">
                <a:solidFill>
                  <a:srgbClr val="263A32"/>
                </a:solidFill>
              </a:rPr>
              <a:t>Proporción original</a:t>
            </a:r>
          </a:p>
          <a:p xmlns:a="http://schemas.openxmlformats.org/drawingml/2006/main">
            <a:pPr>
              <a:defRPr sz="2250" b="0">
                <a:solidFill>
                  <a:srgbClr val="263A32"/>
                </a:solidFill>
              </a:defRPr>
            </a:pPr>
            <a:r>
              <a:rPr sz="2250" b="0">
                <a:solidFill>
                  <a:srgbClr val="263A32"/>
                </a:solidFill>
              </a:rPr>
              <a:t>Colores del archivo fuente</a:t>
            </a:r>
          </a:p>
          <a:p xmlns:a="http://schemas.openxmlformats.org/drawingml/2006/main">
            <a:pPr>
              <a:defRPr sz="2250" b="0">
                <a:solidFill>
                  <a:srgbClr val="263A32"/>
                </a:solidFill>
              </a:defRPr>
            </a:pPr>
            <a:r>
              <a:rPr sz="2250" b="0">
                <a:solidFill>
                  <a:srgbClr val="263A32"/>
                </a:solidFill>
              </a:rPr>
              <a:t>Legibilidad en cada 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A528F-046B-42C4-94E8-EE8E01A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36443D"/>
                </a:solidFill>
              </a:defRPr>
            </a:pPr>
            <a:r>
              <a:rPr sz="1950" b="0">
                <a:solidFill>
                  <a:srgbClr val="36443D"/>
                </a:solidFill>
              </a:rPr>
              <a:t>La campaña conserva la identidad comercial. La marca SIGNEX requiere su archivo original.</a:t>
            </a:r>
          </a:p>
        </p:txBody>
      </p:sp>
    </p:spTree>
    <p:extLst>
      <p:ext uri="{BB962C8B-B14F-4D97-AF65-F5344CB8AC3E}">
        <p14:creationId xmlns:p14="http://schemas.microsoft.com/office/powerpoint/2010/main" val="15319751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C7046-516B-4AB3-BA5C-6DE079FA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Paleta de campaña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27CAA-9FCB-4A1B-99E6-A167033EDDCB}"/>
              </a:ext>
            </a:extLst>
          </p:cNvPr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0"/>
                <a:gridCol w="367665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Blanco cálido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#F7F5EF</a:t>
                      </a:r>
                    </a:p>
                  </a:txBody>
                  <a:tcPr marL="91440" marR="91440" marT="45720" marB="45720">
                    <a:solidFill>
                      <a:srgbClr val="F7F5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Beige</a:t>
                      </a:r>
                    </a:p>
                  </a:txBody>
                  <a:tcPr marL="91440" marR="91440" marT="45720" marB="45720">
                    <a:solidFill>
                      <a:srgbClr val="DCCB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#DCCBB5</a:t>
                      </a:r>
                    </a:p>
                  </a:txBody>
                  <a:tcPr marL="91440" marR="91440" marT="45720" marB="45720">
                    <a:solidFill>
                      <a:srgbClr val="DCCBB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Verde claro</a:t>
                      </a:r>
                    </a:p>
                  </a:txBody>
                  <a:tcPr marL="91440" marR="91440" marT="45720" marB="45720">
                    <a:solidFill>
                      <a:srgbClr val="D7E8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#D7E8C8</a:t>
                      </a:r>
                    </a:p>
                  </a:txBody>
                  <a:tcPr marL="91440" marR="91440" marT="45720" marB="45720">
                    <a:solidFill>
                      <a:srgbClr val="D7E8C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Verde salvia</a:t>
                      </a:r>
                    </a:p>
                  </a:txBody>
                  <a:tcPr marL="91440" marR="91440" marT="45720" marB="45720">
                    <a:solidFill>
                      <a:srgbClr val="9CAF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#9CAF88</a:t>
                      </a:r>
                    </a:p>
                  </a:txBody>
                  <a:tcPr marL="91440" marR="91440" marT="45720" marB="45720">
                    <a:solidFill>
                      <a:srgbClr val="9CAF8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Amarillo pastel</a:t>
                      </a:r>
                    </a:p>
                  </a:txBody>
                  <a:tcPr marL="91440" marR="91440" marT="45720" marB="45720">
                    <a:solidFill>
                      <a:srgbClr val="F1DF9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#F1DF9B</a:t>
                      </a:r>
                    </a:p>
                  </a:txBody>
                  <a:tcPr marL="91440" marR="91440" marT="45720" marB="45720">
                    <a:solidFill>
                      <a:srgbClr val="F1DF9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263A32"/>
                          </a:solidFill>
                        </a:rPr>
                        <a:t>Gris claro</a:t>
                      </a:r>
                    </a:p>
                  </a:txBody>
                  <a:tcPr marL="91440" marR="91440" marT="45720" marB="45720">
                    <a:solidFill>
                      <a:srgbClr val="D6D4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A32"/>
                          </a:solidFill>
                        </a:rPr>
                        <a:t>#D6D4CF</a:t>
                      </a:r>
                    </a:p>
                  </a:txBody>
                  <a:tcPr marL="91440" marR="91440" marT="45720" marB="45720">
                    <a:solidFill>
                      <a:srgbClr val="D6D4C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217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D9F6E-14EC-4EA6-BB43-02BC6076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35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7350" b="1">
                <a:solidFill>
                  <a:srgbClr val="263A32"/>
                </a:solidFill>
              </a:defRPr>
            </a:pPr>
            <a:r>
              <a:rPr sz="7350" b="1">
                <a:solidFill>
                  <a:srgbClr val="263A32"/>
                </a:solidFill>
              </a:rPr>
              <a:t>Poppins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6BCA2-5942-47F7-A2EF-B9E24C49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526749"/>
                </a:solidFill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526749"/>
                </a:solidFill>
              </a:defRPr>
            </a:pPr>
            <a:r>
              <a:rPr sz="3600" b="0">
                <a:solidFill>
                  <a:srgbClr val="526749"/>
                </a:solidFill>
              </a:rPr>
              <a:t>Aa Bb Cc 0123456789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E37DE-4219-4C71-854F-C606BC9D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A32"/>
                </a:solidFill>
              </a:defRPr>
            </a:pPr>
            <a:r>
              <a:rPr sz="2250" b="1">
                <a:solidFill>
                  <a:srgbClr val="263A32"/>
                </a:solidFill>
              </a:rPr>
              <a:t>Titulares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5DEF5-F1B9-4412-A93A-6EDA5F87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6443D"/>
                </a:solidFill>
              </a:defRPr>
            </a:pPr>
            <a:r>
              <a:rPr sz="1875" b="0">
                <a:solidFill>
                  <a:srgbClr val="36443D"/>
                </a:solidFill>
              </a:rPr>
              <a:t>SemiBold</a:t>
            </a:r>
          </a:p>
          <a:p xmlns:a="http://schemas.openxmlformats.org/drawingml/2006/main">
            <a:pPr>
              <a:defRPr sz="1875" b="0">
                <a:solidFill>
                  <a:srgbClr val="36443D"/>
                </a:solidFill>
              </a:defRPr>
            </a:pPr>
            <a:r>
              <a:rPr sz="1875" b="0">
                <a:solidFill>
                  <a:srgbClr val="36443D"/>
                </a:solidFill>
              </a:rPr>
              <a:t>Mensaje principal y encabezados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F7AA7-A80D-42B3-B420-853C6B14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3A32"/>
                </a:solidFill>
              </a:defRPr>
            </a:pPr>
            <a:r>
              <a:rPr sz="2250" b="1">
                <a:solidFill>
                  <a:srgbClr val="263A32"/>
                </a:solidFill>
              </a:rPr>
              <a:t>Información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EB217-4566-4356-9123-6002F5A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6443D"/>
                </a:solidFill>
              </a:defRPr>
            </a:pPr>
            <a:r>
              <a:rPr sz="1875" b="0">
                <a:solidFill>
                  <a:srgbClr val="36443D"/>
                </a:solidFill>
              </a:rPr>
              <a:t>Regular</a:t>
            </a:r>
          </a:p>
          <a:p xmlns:a="http://schemas.openxmlformats.org/drawingml/2006/main">
            <a:pPr>
              <a:defRPr sz="1875" b="0">
                <a:solidFill>
                  <a:srgbClr val="36443D"/>
                </a:solidFill>
              </a:defRPr>
            </a:pPr>
            <a:r>
              <a:rPr sz="1875" b="0">
                <a:solidFill>
                  <a:srgbClr val="36443D"/>
                </a:solidFill>
              </a:rPr>
              <a:t>Apoyo, detalle y acción</a:t>
            </a:r>
          </a:p>
        </p:txBody>
      </p:sp>
    </p:spTree>
    <p:extLst>
      <p:ext uri="{BB962C8B-B14F-4D97-AF65-F5344CB8AC3E}">
        <p14:creationId xmlns:p14="http://schemas.microsoft.com/office/powerpoint/2010/main" val="2918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6622D-9AD5-47EB-B3D1-FE585B9DB6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47a59148294e43"/>
          <a:srcRect xmlns:a="http://schemas.openxmlformats.org/drawingml/2006/main" l="24987" t="0" r="249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FFFEA-9D75-47CE-AA61-F707EA1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63A32"/>
                </a:solidFill>
              </a:defRPr>
            </a:pPr>
            <a:r>
              <a:rPr sz="3225" b="1">
                <a:solidFill>
                  <a:srgbClr val="263A32"/>
                </a:solidFill>
              </a:rPr>
              <a:t>Fotografía y ambientación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CA841-277C-496C-930B-BA1FD42D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48577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Habitación cálida y ordenada.</a:t>
            </a:r>
          </a:p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Iluminación suave y materiales naturales.</a:t>
            </a:r>
          </a:p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Perspectiva, escala y sombras coherentes.</a:t>
            </a:r>
          </a:p>
          <a:p xmlns:a="http://schemas.openxmlformats.org/drawingml/2006/main">
            <a:pPr>
              <a:defRPr sz="2175" b="0">
                <a:solidFill>
                  <a:srgbClr val="36443D"/>
                </a:solidFill>
              </a:defRPr>
            </a:pPr>
            <a:r>
              <a:rPr sz="2175" b="0">
                <a:solidFill>
                  <a:srgbClr val="36443D"/>
                </a:solidFill>
              </a:rPr>
              <a:t>Producto protagonista y recursos con procedencia registrada.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CDB57-7429-4EAA-BD01-1115364E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6443D"/>
                </a:solidFill>
              </a:defRPr>
            </a:pPr>
            <a:r>
              <a:rPr sz="1350" b="0">
                <a:solidFill>
                  <a:srgbClr val="36443D"/>
                </a:solidFill>
              </a:rPr>
              <a:t>Ambientación conceptual</a:t>
            </a:r>
          </a:p>
        </p:txBody>
      </p:sp>
    </p:spTree>
    <p:extLst>
      <p:ext uri="{BB962C8B-B14F-4D97-AF65-F5344CB8AC3E}">
        <p14:creationId xmlns:p14="http://schemas.microsoft.com/office/powerpoint/2010/main" val="696183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1E4C0-BC92-480D-92D0-9DCF7B92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Composición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D3CDE-1052-4C53-8B7D-070167D0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Una idea principal por pieza.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Lectura inmediata del titular.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Producto visible y espacio suficiente alrededor.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Contraste de texto comprobado a tamaño de teléfono.</a:t>
            </a:r>
          </a:p>
        </p:txBody>
      </p:sp>
    </p:spTree>
    <p:extLst>
      <p:ext uri="{BB962C8B-B14F-4D97-AF65-F5344CB8AC3E}">
        <p14:creationId xmlns:p14="http://schemas.microsoft.com/office/powerpoint/2010/main" val="4278626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1A8AC-35E0-4057-9A23-7F55EDD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Carrusel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F2D9-F986-4A14-98F0-0BD98E7F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Formato de preproducción: 1080 × 1350 px.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Portada: Su llegada empieza con tu elección.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Desarrollo: Prepara un espacio para su llegada.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Cierre: Tu elección, su tranquilidad.</a:t>
            </a:r>
          </a:p>
        </p:txBody>
      </p:sp>
    </p:spTree>
    <p:extLst>
      <p:ext uri="{BB962C8B-B14F-4D97-AF65-F5344CB8AC3E}">
        <p14:creationId xmlns:p14="http://schemas.microsoft.com/office/powerpoint/2010/main" val="1770416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50089-A382-4A4D-B7EF-6382C5CC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Post e historia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70DA7-5238-4E3B-BF2F-01F36083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Post propuesto: 1080 × 1350 px.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Historia propuesta: 1080 × 1920 px.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Adaptar la composición a cada formato y conservar texto editable.</a:t>
            </a:r>
          </a:p>
        </p:txBody>
      </p:sp>
    </p:spTree>
    <p:extLst>
      <p:ext uri="{BB962C8B-B14F-4D97-AF65-F5344CB8AC3E}">
        <p14:creationId xmlns:p14="http://schemas.microsoft.com/office/powerpoint/2010/main" val="5600482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9AA15-1D13-44B6-A7D8-15233E82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Mockups y renders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C9EFB-2363-4AB8-B752-1D1A0744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Mockup: aplicación de una pieza aprobada en su contexto.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Render: representación de producto o escena.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Las visualizaciones conceptuales no acreditan características del modelo comercial.</a:t>
            </a:r>
          </a:p>
        </p:txBody>
      </p:sp>
    </p:spTree>
    <p:extLst>
      <p:ext uri="{BB962C8B-B14F-4D97-AF65-F5344CB8AC3E}">
        <p14:creationId xmlns:p14="http://schemas.microsoft.com/office/powerpoint/2010/main" val="19602827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F2295-F4B5-4C22-93EC-3408EC48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263A32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263A32"/>
                </a:solidFill>
              </a:defRPr>
            </a:pPr>
            <a:r>
              <a:rPr sz="3600" b="1">
                <a:solidFill>
                  <a:srgbClr val="263A32"/>
                </a:solidFill>
              </a:rPr>
              <a:t>Continuidad audiovisual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2F2F2-ABAE-48C9-A7A2-34A4D6BA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36443D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Usar el mismo concepto, producto, paleta y tipografía.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Mostrar la elección de la cuna como parte de preparar el hogar.</a:t>
            </a:r>
          </a:p>
          <a:p xmlns:a="http://schemas.openxmlformats.org/drawingml/2006/main">
            <a:pPr>
              <a:defRPr sz="2250" b="0">
                <a:solidFill>
                  <a:srgbClr val="36443D"/>
                </a:solidFill>
              </a:defRPr>
            </a:pPr>
            <a:r>
              <a:rPr sz="2250" b="0">
                <a:solidFill>
                  <a:srgbClr val="36443D"/>
                </a:solidFill>
              </a:rPr>
              <a:t>Dar prioridad a diálogos y demostración del producto.</a:t>
            </a:r>
          </a:p>
        </p:txBody>
      </p:sp>
    </p:spTree>
    <p:extLst>
      <p:ext uri="{BB962C8B-B14F-4D97-AF65-F5344CB8AC3E}">
        <p14:creationId xmlns:p14="http://schemas.microsoft.com/office/powerpoint/2010/main" val="13791810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6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FEAEB-882E-44C6-A554-6F14F727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7F5E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7F5EF"/>
                </a:solidFill>
              </a:defRPr>
            </a:pPr>
            <a:r>
              <a:rPr sz="3600" b="1">
                <a:solidFill>
                  <a:srgbClr val="F7F5EF"/>
                </a:solidFill>
              </a:rPr>
              <a:t>Aplicación y entrega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B2535-C837-4EE2-91F4-D9C98E9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0191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CCBB5"/>
                </a:solidFill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Conservar archivos editables, fotografías originales y exportaciones.</a:t>
            </a:r>
          </a:p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Comprobar logotipos, legibilidad, producto y mensaje.</a:t>
            </a:r>
          </a:p>
          <a:p xmlns:a="http://schemas.openxmlformats.org/drawingml/2006/main">
            <a:pPr>
              <a:defRPr sz="2250" b="0">
                <a:solidFill>
                  <a:srgbClr val="DCCBB5"/>
                </a:solidFill>
              </a:defRPr>
            </a:pPr>
            <a:r>
              <a:rPr sz="2250" b="0">
                <a:solidFill>
                  <a:srgbClr val="DCCBB5"/>
                </a:solidFill>
              </a:rPr>
              <a:t>Validar el modelo de cuna antes de atribuir funciones, precio o garantía.</a:t>
            </a:r>
          </a:p>
        </p:txBody>
      </p:sp>
    </p:spTree>
    <p:extLst>
      <p:ext uri="{BB962C8B-B14F-4D97-AF65-F5344CB8AC3E}">
        <p14:creationId xmlns:p14="http://schemas.microsoft.com/office/powerpoint/2010/main" val="1102810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2026-10-11T16:13:44.6940000Z</dcterms:created>
  <dcterms:modified xsi:type="dcterms:W3CDTF">2026-10-11T16:13:44.6940000Z</dcterms:modified>
</coreProperties>
</file>